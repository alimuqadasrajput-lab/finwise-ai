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FinWise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058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AI-Powered Personal Financial Analysis &amp; Smart Budget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Capstone Project Presentation</a:t>
            </a:r>
          </a:p>
          <a:p>
            <a:pPr>
              <a:spcAft>
                <a:spcPts val="1000"/>
              </a:spcAft>
              <a:defRPr sz="2100"/>
            </a:pPr>
            <a:r>
              <a:t>Streamlit • Python • LangChain • OpenAI</a:t>
            </a:r>
          </a:p>
          <a:p>
            <a:pPr>
              <a:spcAft>
                <a:spcPts val="1000"/>
              </a:spcAft>
              <a:defRPr sz="2100"/>
            </a:pPr>
            <a:r>
              <a:t>Educational FinTech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People often have income and expense data but struggle to interpret spending patterns.</a:t>
            </a:r>
          </a:p>
          <a:p>
            <a:pPr>
              <a:spcAft>
                <a:spcPts val="1000"/>
              </a:spcAft>
              <a:defRPr sz="2100"/>
            </a:pPr>
            <a:r>
              <a:t>Manual budgeting can be time-consuming and difficult to personalize.</a:t>
            </a:r>
          </a:p>
          <a:p>
            <a:pPr>
              <a:spcAft>
                <a:spcPts val="1000"/>
              </a:spcAft>
              <a:defRPr sz="2100"/>
            </a:pPr>
            <a:r>
              <a:t>Users need simple, understandable financial-awareness tools.</a:t>
            </a:r>
          </a:p>
          <a:p>
            <a:pPr>
              <a:spcAft>
                <a:spcPts val="1000"/>
              </a:spcAft>
              <a:defRPr sz="2100"/>
            </a:pPr>
            <a:r>
              <a:t>Generative AI can explain patterns and suggest practical budgeting habits safely.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Calculate financial metrics deterministically using Python.</a:t>
            </a:r>
          </a:p>
          <a:p>
            <a:pPr>
              <a:spcAft>
                <a:spcPts val="1000"/>
              </a:spcAft>
              <a:defRPr sz="2100"/>
            </a:pPr>
            <a:r>
              <a:t>Generate a transparent rule-based educational financial-health score.</a:t>
            </a:r>
          </a:p>
          <a:p>
            <a:pPr>
              <a:spcAft>
                <a:spcPts val="1000"/>
              </a:spcAft>
              <a:defRPr sz="2100"/>
            </a:pPr>
            <a:r>
              <a:t>Use LangChain and OpenAI for personalized educational insights.</a:t>
            </a:r>
          </a:p>
          <a:p>
            <a:pPr>
              <a:spcAft>
                <a:spcPts val="1000"/>
              </a:spcAft>
              <a:defRPr sz="2100"/>
            </a:pPr>
            <a:r>
              <a:t>Return structured, validated JSON from the AI layer.</a:t>
            </a:r>
          </a:p>
          <a:p>
            <a:pPr>
              <a:spcAft>
                <a:spcPts val="1000"/>
              </a:spcAft>
              <a:defRPr sz="2100"/>
            </a:pPr>
            <a:r>
              <a:t>Stream recommendations in real time.</a:t>
            </a:r>
          </a:p>
          <a:p>
            <a:pPr>
              <a:spcAft>
                <a:spcPts val="1000"/>
              </a:spcAft>
              <a:defRPr sz="2100"/>
            </a:pPr>
            <a:r>
              <a:t>Support InMemoryCache and SQLiteCache.</a:t>
            </a:r>
          </a:p>
          <a:p>
            <a:pPr>
              <a:spcAft>
                <a:spcPts val="1000"/>
              </a:spcAft>
              <a:defRPr sz="2100"/>
            </a:pPr>
            <a:r>
              <a:t>Provide a professional, beginner-friendly Streamlit dashboard.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Python 3.10+</a:t>
            </a:r>
          </a:p>
          <a:p>
            <a:pPr>
              <a:spcAft>
                <a:spcPts val="1000"/>
              </a:spcAft>
              <a:defRPr sz="2000"/>
            </a:pPr>
            <a:r>
              <a:t>Streamlit — web interface and dashboard</a:t>
            </a:r>
          </a:p>
          <a:p>
            <a:pPr>
              <a:spcAft>
                <a:spcPts val="1000"/>
              </a:spcAft>
              <a:defRPr sz="2000"/>
            </a:pPr>
            <a:r>
              <a:t>LangChain / LangChain Core — prompt and model orchestration</a:t>
            </a:r>
          </a:p>
          <a:p>
            <a:pPr>
              <a:spcAft>
                <a:spcPts val="1000"/>
              </a:spcAft>
              <a:defRPr sz="2000"/>
            </a:pPr>
            <a:r>
              <a:t>langchain-openai + OpenAI — LLM integration</a:t>
            </a:r>
          </a:p>
          <a:p>
            <a:pPr>
              <a:spcAft>
                <a:spcPts val="1000"/>
              </a:spcAft>
              <a:defRPr sz="2000"/>
            </a:pPr>
            <a:r>
              <a:t>Pydantic — structured output validation</a:t>
            </a:r>
          </a:p>
          <a:p>
            <a:pPr>
              <a:spcAft>
                <a:spcPts val="1000"/>
              </a:spcAft>
              <a:defRPr sz="2000"/>
            </a:pPr>
            <a:r>
              <a:t>python-dotenv — environment configuration</a:t>
            </a:r>
          </a:p>
          <a:p>
            <a:pPr>
              <a:spcAft>
                <a:spcPts val="1000"/>
              </a:spcAft>
              <a:defRPr sz="2000"/>
            </a:pPr>
            <a:r>
              <a:t>SQLite — persistent local cache</a:t>
            </a:r>
          </a:p>
          <a:p>
            <a:pPr>
              <a:spcAft>
                <a:spcPts val="1000"/>
              </a:spcAft>
              <a:defRPr sz="2000"/>
            </a:pPr>
            <a:r>
              <a:t>Pandas + Plotly —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240280"/>
            <a:ext cx="1600200" cy="1051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User</a:t>
            </a:r>
          </a:p>
          <a:p>
            <a:r>
              <a:t>Input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2240280"/>
            <a:ext cx="1600200" cy="1051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Python</a:t>
            </a:r>
          </a:p>
          <a:p>
            <a:r>
              <a:t>Calculator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92040" y="2240280"/>
            <a:ext cx="1600200" cy="1051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LangChain</a:t>
            </a:r>
          </a:p>
          <a:p>
            <a:r>
              <a:t>Prompt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86600" y="2240280"/>
            <a:ext cx="1600200" cy="1051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OpenAI</a:t>
            </a:r>
          </a:p>
          <a:p>
            <a:r>
              <a:t>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2240280"/>
            <a:ext cx="1600200" cy="1051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Validation</a:t>
            </a:r>
          </a:p>
          <a:p>
            <a:r>
              <a:t>+ JSON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286000" y="2532888"/>
            <a:ext cx="411480" cy="4114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4434840" y="2532888"/>
            <a:ext cx="411480" cy="4114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6629400" y="2532888"/>
            <a:ext cx="411480" cy="4114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8686800" y="2532888"/>
            <a:ext cx="411480" cy="4114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023360" y="4069080"/>
            <a:ext cx="420624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Streamlit Dashboard + AI Recommendations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User Input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Monthly income and current savings.</a:t>
            </a:r>
          </a:p>
          <a:p>
            <a:pPr>
              <a:spcAft>
                <a:spcPts val="1000"/>
              </a:spcAft>
              <a:defRPr sz="2100"/>
            </a:pPr>
            <a:r>
              <a:t>Housing/Rent, Food, Transportation, Utilities, Education, Healthcare.</a:t>
            </a:r>
          </a:p>
          <a:p>
            <a:pPr>
              <a:spcAft>
                <a:spcPts val="1000"/>
              </a:spcAft>
              <a:defRPr sz="2100"/>
            </a:pPr>
            <a:r>
              <a:t>Entertainment, Loan/Debt, and Other expenses.</a:t>
            </a:r>
          </a:p>
          <a:p>
            <a:pPr>
              <a:spcAft>
                <a:spcPts val="1000"/>
              </a:spcAft>
              <a:defRPr sz="2100"/>
            </a:pPr>
            <a:r>
              <a:t>Financial goal and currency selection.</a:t>
            </a:r>
          </a:p>
          <a:p>
            <a:pPr>
              <a:spcAft>
                <a:spcPts val="1000"/>
              </a:spcAft>
              <a:defRPr sz="2100"/>
            </a:pPr>
            <a:r>
              <a:t>Validation blocks negative values and zero-income calculation problems.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Deterministic Financial Calculations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Total Expenses = sum of all expense categories.</a:t>
            </a:r>
          </a:p>
          <a:p>
            <a:pPr>
              <a:spcAft>
                <a:spcPts val="1000"/>
              </a:spcAft>
              <a:defRPr sz="2100"/>
            </a:pPr>
            <a:r>
              <a:t>Remaining Income = Monthly Income − Total Expenses.</a:t>
            </a:r>
          </a:p>
          <a:p>
            <a:pPr>
              <a:spcAft>
                <a:spcPts val="1000"/>
              </a:spcAft>
              <a:defRPr sz="2100"/>
            </a:pPr>
            <a:r>
              <a:t>Savings Ratio = Savings ÷ Monthly Income × 100.</a:t>
            </a:r>
          </a:p>
          <a:p>
            <a:pPr>
              <a:spcAft>
                <a:spcPts val="1000"/>
              </a:spcAft>
              <a:defRPr sz="2100"/>
            </a:pPr>
            <a:r>
              <a:t>Expense Ratio = Total Expenses ÷ Monthly Income × 100.</a:t>
            </a:r>
          </a:p>
          <a:p>
            <a:pPr>
              <a:spcAft>
                <a:spcPts val="1000"/>
              </a:spcAft>
              <a:defRPr sz="2100"/>
            </a:pPr>
            <a:r>
              <a:t>Debt Burden = Loan/Debt ÷ Monthly Income × 100.</a:t>
            </a:r>
          </a:p>
          <a:p>
            <a:pPr>
              <a:spcAft>
                <a:spcPts val="1000"/>
              </a:spcAft>
              <a:defRPr sz="2100"/>
            </a:pPr>
            <a:r>
              <a:t>Rule-based score combines savings, remaining income, expense ratio, and debt burden.</a:t>
            </a:r>
          </a:p>
          <a:p>
            <a:pPr>
              <a:spcAft>
                <a:spcPts val="1000"/>
              </a:spcAft>
              <a:defRPr sz="2100"/>
            </a:pPr>
            <a:r>
              <a:t>Score is bounded from 0–100 and labeled educational.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Prompt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System prompt defines FinWise AI as an educational personal budgeting assistant.</a:t>
            </a:r>
          </a:p>
          <a:p>
            <a:pPr>
              <a:spcAft>
                <a:spcPts val="1000"/>
              </a:spcAft>
              <a:defRPr sz="2100"/>
            </a:pPr>
            <a:r>
              <a:t>Human prompt injects calculated metrics and expense breakdown.</a:t>
            </a:r>
          </a:p>
          <a:p>
            <a:pPr>
              <a:spcAft>
                <a:spcPts val="1000"/>
              </a:spcAft>
              <a:defRPr sz="2100"/>
            </a:pPr>
            <a:r>
              <a:t>Explicit safety rules prevent guaranteed outcomes and investment claims.</a:t>
            </a:r>
          </a:p>
          <a:p>
            <a:pPr>
              <a:spcAft>
                <a:spcPts val="1000"/>
              </a:spcAft>
              <a:defRPr sz="2100"/>
            </a:pPr>
            <a:r>
              <a:t>AI must base observations strictly on supplied data.</a:t>
            </a:r>
          </a:p>
          <a:p>
            <a:pPr>
              <a:spcAft>
                <a:spcPts val="1000"/>
              </a:spcAft>
              <a:defRPr sz="2100"/>
            </a:pPr>
            <a:r>
              <a:t>Exact output schema improves consistency and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LangChain &amp; Structured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ChatPromptTemplate combines SystemMessage and HumanMessage.</a:t>
            </a:r>
          </a:p>
          <a:p>
            <a:pPr>
              <a:spcAft>
                <a:spcPts val="1000"/>
              </a:spcAft>
              <a:defRPr sz="2100"/>
            </a:pPr>
            <a:r>
              <a:t>ChatOpenAI processes the financial snapshot.</a:t>
            </a:r>
          </a:p>
          <a:p>
            <a:pPr>
              <a:spcAft>
                <a:spcPts val="1000"/>
              </a:spcAft>
              <a:defRPr sz="2100"/>
            </a:pPr>
            <a:r>
              <a:t>Native structured output targets a Pydantic FinWiseAnalysis schema.</a:t>
            </a:r>
          </a:p>
          <a:p>
            <a:pPr>
              <a:spcAft>
                <a:spcPts val="1000"/>
              </a:spcAft>
              <a:defRPr sz="2100"/>
            </a:pPr>
            <a:r>
              <a:t>Schema includes summary, score, spending analysis, risk, priorities, savings strategy, and action plan.</a:t>
            </a:r>
          </a:p>
          <a:p>
            <a:pPr>
              <a:spcAft>
                <a:spcPts val="1000"/>
              </a:spcAft>
              <a:defRPr sz="2100"/>
            </a:pPr>
            <a:r>
              <a:t>Unexpected responses are caught instead of crashing the application.</a:t>
            </a:r>
          </a:p>
          <a:p>
            <a:pPr>
              <a:spcAft>
                <a:spcPts val="1000"/>
              </a:spcAft>
              <a:defRPr sz="2100"/>
            </a:pPr>
            <a:r>
              <a:t>A legacy LLMChain classroom example is included; the main path uses modern APIs.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Caching &amp; Streaming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InMemoryCache: fast temporary cache stored in application memory.</a:t>
            </a:r>
          </a:p>
          <a:p>
            <a:pPr>
              <a:spcAft>
                <a:spcPts val="1000"/>
              </a:spcAft>
              <a:defRPr sz="2100"/>
            </a:pPr>
            <a:r>
              <a:t>SQLiteCache: local persistent cache stored in SQLite.</a:t>
            </a:r>
          </a:p>
          <a:p>
            <a:pPr>
              <a:spcAft>
                <a:spcPts val="1000"/>
              </a:spcAft>
              <a:defRPr sz="2100"/>
            </a:pPr>
            <a:r>
              <a:t>Cache failures are non-fatal because caching is an optimization.</a:t>
            </a:r>
          </a:p>
          <a:p>
            <a:pPr>
              <a:spcAft>
                <a:spcPts val="1000"/>
              </a:spcAft>
              <a:defRPr sz="2100"/>
            </a:pPr>
            <a:r>
              <a:t>llm.stream() produces incremental model output.</a:t>
            </a:r>
          </a:p>
          <a:p>
            <a:pPr>
              <a:spcAft>
                <a:spcPts val="1000"/>
              </a:spcAft>
              <a:defRPr sz="2100"/>
            </a:pPr>
            <a:r>
              <a:t>Streamlit st.write_stream() creates a natural typing effect.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Dashboard &amp; Visualizations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Financial overview: income, expenses, remaining balance, and savings.</a:t>
            </a:r>
          </a:p>
          <a:p>
            <a:pPr>
              <a:spcAft>
                <a:spcPts val="1000"/>
              </a:spcAft>
              <a:defRPr sz="2100"/>
            </a:pPr>
            <a:r>
              <a:t>Ratios: savings ratio, expense ratio, and debt burden.</a:t>
            </a:r>
          </a:p>
          <a:p>
            <a:pPr>
              <a:spcAft>
                <a:spcPts val="1000"/>
              </a:spcAft>
              <a:defRPr sz="2100"/>
            </a:pPr>
            <a:r>
              <a:t>Educational score progress indicator.</a:t>
            </a:r>
          </a:p>
          <a:p>
            <a:pPr>
              <a:spcAft>
                <a:spcPts val="1000"/>
              </a:spcAft>
              <a:defRPr sz="2100"/>
            </a:pPr>
            <a:r>
              <a:t>Expense bar chart for category comparison.</a:t>
            </a:r>
          </a:p>
          <a:p>
            <a:pPr>
              <a:spcAft>
                <a:spcPts val="1000"/>
              </a:spcAft>
              <a:defRPr sz="2100"/>
            </a:pPr>
            <a:r>
              <a:t>Expense donut chart for spending distribution.</a:t>
            </a:r>
          </a:p>
          <a:p>
            <a:pPr>
              <a:spcAft>
                <a:spcPts val="1000"/>
              </a:spcAft>
              <a:defRPr sz="2100"/>
            </a:pPr>
            <a:r>
              <a:t>AI tabs: spending, risk, priorities, budget, savings, and action plan.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Safety &amp; Responsible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Educational use only — not professional financial advice.</a:t>
            </a:r>
          </a:p>
          <a:p>
            <a:pPr>
              <a:spcAft>
                <a:spcPts val="1000"/>
              </a:spcAft>
              <a:defRPr sz="2100"/>
            </a:pPr>
            <a:r>
              <a:t>No guaranteed financial outcomes or investment returns.</a:t>
            </a:r>
          </a:p>
          <a:p>
            <a:pPr>
              <a:spcAft>
                <a:spcPts val="1000"/>
              </a:spcAft>
              <a:defRPr sz="2100"/>
            </a:pPr>
            <a:r>
              <a:t>No bank-account connections or financial transactions.</a:t>
            </a:r>
          </a:p>
          <a:p>
            <a:pPr>
              <a:spcAft>
                <a:spcPts val="1000"/>
              </a:spcAft>
              <a:defRPr sz="2100"/>
            </a:pPr>
            <a:r>
              <a:t>No claim of being a licensed financial advisor.</a:t>
            </a:r>
          </a:p>
          <a:p>
            <a:pPr>
              <a:spcAft>
                <a:spcPts val="1000"/>
              </a:spcAft>
              <a:defRPr sz="2100"/>
            </a:pPr>
            <a:r>
              <a:t>AI recommendations are grounded in supplied data.</a:t>
            </a:r>
          </a:p>
          <a:p>
            <a:pPr>
              <a:spcAft>
                <a:spcPts val="1000"/>
              </a:spcAft>
              <a:defRPr sz="2100"/>
            </a:pPr>
            <a:r>
              <a:t>Important financial decisions should be discussed with a qualified professional.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Testing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Healthy: 8,000 income / ~2,000 expenses → strong savings potential.</a:t>
            </a:r>
          </a:p>
          <a:p>
            <a:pPr>
              <a:spcAft>
                <a:spcPts val="1000"/>
              </a:spcAft>
              <a:defRPr sz="2100"/>
            </a:pPr>
            <a:r>
              <a:t>Overspending: 2,000 income / ~2,600 expenses → negative balance and high attention.</a:t>
            </a:r>
          </a:p>
          <a:p>
            <a:pPr>
              <a:spcAft>
                <a:spcPts val="1000"/>
              </a:spcAft>
              <a:defRPr sz="2100"/>
            </a:pPr>
            <a:r>
              <a:t>High debt: 5,000 income / 2,500 debt → 50% debt burden and debt-reduction priority.</a:t>
            </a:r>
          </a:p>
          <a:p>
            <a:pPr>
              <a:spcAft>
                <a:spcPts val="1000"/>
              </a:spcAft>
              <a:defRPr sz="2100"/>
            </a:pPr>
            <a:r>
              <a:t>Strong savings: 4,000 income / 1,200 savings → approximately 30% savings ratio.</a:t>
            </a:r>
          </a:p>
          <a:p>
            <a:pPr>
              <a:spcAft>
                <a:spcPts val="1000"/>
              </a:spcAft>
              <a:defRPr sz="2100"/>
            </a:pPr>
            <a:r>
              <a:t>Break-even: 3,000 income / 3,000 expenses → zero remaining income.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app.py — Streamlit UI and application flow.</a:t>
            </a:r>
          </a:p>
          <a:p>
            <a:pPr>
              <a:spcAft>
                <a:spcPts val="1000"/>
              </a:spcAft>
              <a:defRPr sz="2000"/>
            </a:pPr>
            <a:r>
              <a:t>src/config.py — configuration and constants.</a:t>
            </a:r>
          </a:p>
          <a:p>
            <a:pPr>
              <a:spcAft>
                <a:spcPts val="1000"/>
              </a:spcAft>
              <a:defRPr sz="2000"/>
            </a:pPr>
            <a:r>
              <a:t>src/financial_calculator.py — deterministic financial logic.</a:t>
            </a:r>
          </a:p>
          <a:p>
            <a:pPr>
              <a:spcAft>
                <a:spcPts val="1000"/>
              </a:spcAft>
              <a:defRPr sz="2000"/>
            </a:pPr>
            <a:r>
              <a:t>src/prompts.py — PromptTemplate and ChatPromptTemplate.</a:t>
            </a:r>
          </a:p>
          <a:p>
            <a:pPr>
              <a:spcAft>
                <a:spcPts val="1000"/>
              </a:spcAft>
              <a:defRPr sz="2000"/>
            </a:pPr>
            <a:r>
              <a:t>src/chains.py — ChatOpenAI, structured output, and streaming.</a:t>
            </a:r>
          </a:p>
          <a:p>
            <a:pPr>
              <a:spcAft>
                <a:spcPts val="1000"/>
              </a:spcAft>
              <a:defRPr sz="2000"/>
            </a:pPr>
            <a:r>
              <a:t>src/cache_manager.py — InMemoryCache / SQLiteCache.</a:t>
            </a:r>
          </a:p>
          <a:p>
            <a:pPr>
              <a:spcAft>
                <a:spcPts val="1000"/>
              </a:spcAft>
              <a:defRPr sz="2000"/>
            </a:pPr>
            <a:r>
              <a:t>src/utils.py — validation, normalization, and fallback logic.</a:t>
            </a:r>
          </a:p>
          <a:p>
            <a:pPr>
              <a:spcAft>
                <a:spcPts val="1000"/>
              </a:spcAft>
              <a:defRPr sz="2000"/>
            </a:pPr>
            <a:r>
              <a:t>docs/project_documentation.md — technical documentation.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Key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Combines deterministic programming with Generative AI.</a:t>
            </a:r>
          </a:p>
          <a:p>
            <a:pPr>
              <a:spcAft>
                <a:spcPts val="1000"/>
              </a:spcAft>
              <a:defRPr sz="2100"/>
            </a:pPr>
            <a:r>
              <a:t>Separates arithmetic from probabilistic AI interpretation.</a:t>
            </a:r>
          </a:p>
          <a:p>
            <a:pPr>
              <a:spcAft>
                <a:spcPts val="1000"/>
              </a:spcAft>
              <a:defRPr sz="2100"/>
            </a:pPr>
            <a:r>
              <a:t>Modular architecture is easy to maintain and extend.</a:t>
            </a:r>
          </a:p>
          <a:p>
            <a:pPr>
              <a:spcAft>
                <a:spcPts val="1000"/>
              </a:spcAft>
              <a:defRPr sz="2100"/>
            </a:pPr>
            <a:r>
              <a:t>Structured output makes AI responses easier to validate.</a:t>
            </a:r>
          </a:p>
          <a:p>
            <a:pPr>
              <a:spcAft>
                <a:spcPts val="1000"/>
              </a:spcAft>
              <a:defRPr sz="2100"/>
            </a:pPr>
            <a:r>
              <a:t>Caching improves repeated development interactions.</a:t>
            </a:r>
          </a:p>
          <a:p>
            <a:pPr>
              <a:spcAft>
                <a:spcPts val="1000"/>
              </a:spcAft>
              <a:defRPr sz="2100"/>
            </a:pPr>
            <a:r>
              <a:t>Streamlit provides a clear capstone demonstration dashboard.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CSV expense-history upload and month-to-month comparison.</a:t>
            </a:r>
          </a:p>
          <a:p>
            <a:pPr>
              <a:spcAft>
                <a:spcPts val="1000"/>
              </a:spcAft>
              <a:defRPr sz="2100"/>
            </a:pPr>
            <a:r>
              <a:t>Financial goal tracker and progress history.</a:t>
            </a:r>
          </a:p>
          <a:p>
            <a:pPr>
              <a:spcAft>
                <a:spcPts val="1000"/>
              </a:spcAft>
              <a:defRPr sz="2100"/>
            </a:pPr>
            <a:r>
              <a:t>PDF financial reports.</a:t>
            </a:r>
          </a:p>
          <a:p>
            <a:pPr>
              <a:spcAft>
                <a:spcPts val="1000"/>
              </a:spcAft>
              <a:defRPr sz="2100"/>
            </a:pPr>
            <a:r>
              <a:t>Optional conversation history.</a:t>
            </a:r>
          </a:p>
          <a:p>
            <a:pPr>
              <a:spcAft>
                <a:spcPts val="1000"/>
              </a:spcAft>
              <a:defRPr sz="2100"/>
            </a:pPr>
            <a:r>
              <a:t>Authentication and multi-user profiles.</a:t>
            </a:r>
          </a:p>
          <a:p>
            <a:pPr>
              <a:spcAft>
                <a:spcPts val="1000"/>
              </a:spcAft>
              <a:defRPr sz="2100"/>
            </a:pPr>
            <a:r>
              <a:t>Docker deployment and additional analytics.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FinWise AI demonstrates a complete educational FinTech AI workflow.</a:t>
            </a:r>
          </a:p>
          <a:p>
            <a:pPr>
              <a:spcAft>
                <a:spcPts val="1000"/>
              </a:spcAft>
              <a:defRPr sz="2100"/>
            </a:pPr>
            <a:r>
              <a:t>Python provides transparent financial calculations.</a:t>
            </a:r>
          </a:p>
          <a:p>
            <a:pPr>
              <a:spcAft>
                <a:spcPts val="1000"/>
              </a:spcAft>
              <a:defRPr sz="2100"/>
            </a:pPr>
            <a:r>
              <a:t>LangChain + OpenAI provide structured educational insights.</a:t>
            </a:r>
          </a:p>
          <a:p>
            <a:pPr>
              <a:spcAft>
                <a:spcPts val="1000"/>
              </a:spcAft>
              <a:defRPr sz="2100"/>
            </a:pPr>
            <a:r>
              <a:t>Streamlit turns the workflow into an accessible dashboard.</a:t>
            </a:r>
          </a:p>
          <a:p>
            <a:pPr>
              <a:spcAft>
                <a:spcPts val="1000"/>
              </a:spcAft>
              <a:defRPr sz="2100"/>
            </a:pPr>
            <a:r>
              <a:t>Safety controls keep the prototype focused on financial education.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058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FinWise AI</a:t>
            </a:r>
          </a:p>
          <a:p>
            <a:pPr>
              <a:spcAft>
                <a:spcPts val="1000"/>
              </a:spcAft>
              <a:defRPr sz="2100"/>
            </a:pPr>
            <a:r>
              <a:t>AI-Powered Personal Financial Analysis &amp; Smart Budget Assistant</a:t>
            </a:r>
          </a:p>
          <a:p>
            <a:pPr>
              <a:spcAft>
                <a:spcPts val="1000"/>
              </a:spcAft>
              <a:defRPr sz="2100"/>
            </a:pPr>
            <a:r>
              <a:t>Capstone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FinWise AI — Capstone Project Presentation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